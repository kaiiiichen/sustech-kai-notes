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tag2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8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57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uayun Ye" initials="K" lastIdx="1" clrIdx="0"/>
  <p:cmAuthor id="2" name="Kailiang Wu" initials="K" lastIdx="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1884" y="96"/>
      </p:cViewPr>
      <p:guideLst>
        <p:guide orient="horz" pos="2160"/>
        <p:guide pos="285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40ACD-9670-4AFA-8A4E-0702076A6C87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ECBF4-974B-437F-842B-ED5761B4A4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40ACD-9670-4AFA-8A4E-0702076A6C87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ECBF4-974B-437F-842B-ED5761B4A4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40ACD-9670-4AFA-8A4E-0702076A6C87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ECBF4-974B-437F-842B-ED5761B4A4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40ACD-9670-4AFA-8A4E-0702076A6C87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ECBF4-974B-437F-842B-ED5761B4A4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40ACD-9670-4AFA-8A4E-0702076A6C87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ECBF4-974B-437F-842B-ED5761B4A4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40ACD-9670-4AFA-8A4E-0702076A6C87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ECBF4-974B-437F-842B-ED5761B4A4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40ACD-9670-4AFA-8A4E-0702076A6C87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ECBF4-974B-437F-842B-ED5761B4A4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40ACD-9670-4AFA-8A4E-0702076A6C87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ECBF4-974B-437F-842B-ED5761B4A4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40ACD-9670-4AFA-8A4E-0702076A6C87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ECBF4-974B-437F-842B-ED5761B4A4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40ACD-9670-4AFA-8A4E-0702076A6C87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ECBF4-974B-437F-842B-ED5761B4A4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40ACD-9670-4AFA-8A4E-0702076A6C87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ECBF4-974B-437F-842B-ED5761B4A4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9289" y="206376"/>
            <a:ext cx="7981244" cy="523863"/>
          </a:xfrm>
        </p:spPr>
        <p:txBody>
          <a:bodyPr/>
          <a:lstStyle/>
          <a:p>
            <a:r>
              <a:rPr lang="en-US" altLang="zh-CN" noProof="1"/>
              <a:t>Click to edit Master title style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altLang="en-US" dirty="0"/>
          </a:p>
        </p:txBody>
      </p:sp>
      <p:sp>
        <p:nvSpPr>
          <p:cNvPr id="5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1D0B83-F332-4D31-B27D-9B33F8C5693A}" type="slidenum">
              <a:rPr lang="en-US" altLang="zh-CN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40ACD-9670-4AFA-8A4E-0702076A6C87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BECBF4-974B-437F-842B-ED5761B4A4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9290" y="1301262"/>
            <a:ext cx="8425419" cy="3938954"/>
          </a:xfrm>
        </p:spPr>
        <p:txBody>
          <a:bodyPr>
            <a:normAutofit fontScale="90000"/>
          </a:bodyPr>
          <a:lstStyle/>
          <a:p>
            <a:r>
              <a:rPr lang="en-US" altLang="zh-CN" sz="60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r>
              <a:rPr lang="zh-CN" altLang="en-US" sz="60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月</a:t>
            </a:r>
            <a:r>
              <a:rPr lang="en-US" altLang="zh-CN" sz="60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27</a:t>
            </a:r>
            <a:r>
              <a:rPr lang="zh-CN" altLang="en-US" sz="60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日实验课实验题</a:t>
            </a:r>
            <a:br>
              <a:rPr lang="en-US" altLang="zh-CN" sz="6000" b="1" dirty="0"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6000" b="1" dirty="0"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 b="1" dirty="0"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</a:rPr>
              <a:t>上交截止日期</a:t>
            </a:r>
            <a:r>
              <a:rPr lang="en-US" altLang="zh-CN" sz="4000" b="1" dirty="0">
                <a:latin typeface="微软雅黑" panose="020B0503020204020204" charset="-122"/>
                <a:ea typeface="微软雅黑" panose="020B0503020204020204" charset="-122"/>
              </a:rPr>
              <a:t>:</a:t>
            </a:r>
            <a:r>
              <a:rPr lang="en-US" altLang="zh-CN" sz="40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</a:rPr>
              <a:t>2024</a:t>
            </a:r>
            <a:r>
              <a:rPr lang="zh-CN" altLang="en-US" sz="40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lang="en-US" altLang="zh-CN" sz="40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r>
              <a:rPr lang="zh-CN" altLang="en-US" sz="40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</a:rPr>
              <a:t>月</a:t>
            </a:r>
            <a:r>
              <a:rPr lang="en-US" altLang="zh-CN" sz="40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</a:rPr>
              <a:t>27</a:t>
            </a:r>
            <a:r>
              <a:rPr lang="zh-CN" altLang="en-US" sz="40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</a:rPr>
              <a:t>日</a:t>
            </a:r>
            <a:r>
              <a:rPr lang="en-US" altLang="zh-CN" sz="40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</a:rPr>
              <a:t>22:00</a:t>
            </a:r>
            <a:br>
              <a:rPr lang="en-US" altLang="zh-CN" sz="40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</a:rPr>
            </a:br>
            <a:br>
              <a:rPr lang="en-US" altLang="zh-CN" sz="40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4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共</a:t>
            </a:r>
            <a:r>
              <a:rPr lang="en-US" altLang="zh-CN" sz="4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4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br>
              <a:rPr lang="en-US" altLang="zh-CN" sz="4000" b="1" dirty="0">
                <a:latin typeface="微软雅黑" panose="020B0503020204020204" charset="-122"/>
                <a:ea typeface="微软雅黑" panose="020B0503020204020204" charset="-122"/>
              </a:rPr>
            </a:br>
            <a:endParaRPr lang="en-US" sz="4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88640"/>
                <a:ext cx="8797893" cy="62373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zh-CN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r>
                  <a:rPr lang="zh-CN" altLang="en-US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、</a:t>
                </a:r>
                <a:r>
                  <a:rPr lang="en-US" altLang="zh-CN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(</a:t>
                </a:r>
                <a:r>
                  <a:rPr lang="en-US" altLang="zh-CN" sz="28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r>
                  <a:rPr lang="zh-CN" altLang="en-US" sz="28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分</a:t>
                </a:r>
                <a:r>
                  <a:rPr lang="en-US" altLang="zh-CN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)</a:t>
                </a:r>
                <a:r>
                  <a:rPr lang="zh-CN" altLang="en-US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用电压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/>
                        <a:ea typeface="宋体" panose="02010600030101010101" pitchFamily="2" charset="-122"/>
                      </a:rPr>
                      <m:t>𝑊</m:t>
                    </m:r>
                    <m:r>
                      <a:rPr lang="en-US" altLang="zh-CN" sz="2800" i="1" dirty="0" smtClean="0">
                        <a:latin typeface="Cambria Math" panose="02040503050406030204"/>
                        <a:ea typeface="宋体" panose="02010600030101010101" pitchFamily="2" charset="-122"/>
                      </a:rPr>
                      <m:t>=10</m:t>
                    </m:r>
                    <m:r>
                      <a:rPr lang="en-US" altLang="zh-CN" sz="2800" i="1" dirty="0" smtClean="0">
                        <a:latin typeface="Cambria Math" panose="02040503050406030204"/>
                        <a:ea typeface="宋体" panose="02010600030101010101" pitchFamily="2" charset="-122"/>
                      </a:rPr>
                      <m:t>𝑉</m:t>
                    </m:r>
                  </m:oMath>
                </a14:m>
                <a:r>
                  <a:rPr lang="zh-CN" altLang="en-US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的电池给电容器充电，电容器上</a:t>
                </a:r>
                <a:r>
                  <a:rPr lang="en-US" altLang="zh-CN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t</a:t>
                </a:r>
                <a:r>
                  <a:rPr lang="zh-CN" altLang="en-US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时刻电压为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/>
                        <a:ea typeface="宋体" panose="02010600030101010101" pitchFamily="2" charset="-122"/>
                      </a:rPr>
                      <m:t>𝑢</m:t>
                    </m:r>
                    <m:r>
                      <a:rPr lang="en-US" altLang="zh-CN" sz="2800" i="1" dirty="0">
                        <a:latin typeface="Cambria Math" panose="02040503050406030204"/>
                        <a:ea typeface="宋体" panose="02010600030101010101" pitchFamily="2" charset="-122"/>
                      </a:rPr>
                      <m:t>(</m:t>
                    </m:r>
                    <m:r>
                      <a:rPr lang="en-US" altLang="zh-CN" sz="2800" i="1" dirty="0" smtClean="0">
                        <a:latin typeface="Cambria Math" panose="02040503050406030204"/>
                        <a:ea typeface="宋体" panose="02010600030101010101" pitchFamily="2" charset="-122"/>
                      </a:rPr>
                      <m:t>𝑡</m:t>
                    </m:r>
                    <m:r>
                      <a:rPr lang="en-US" altLang="zh-CN" sz="2800" i="1" dirty="0" smtClean="0">
                        <a:latin typeface="Cambria Math" panose="02040503050406030204"/>
                        <a:ea typeface="宋体" panose="02010600030101010101" pitchFamily="2" charset="-122"/>
                      </a:rPr>
                      <m:t>)=</m:t>
                    </m:r>
                    <m:r>
                      <a:rPr lang="en-US" altLang="zh-CN" sz="2800" i="1" dirty="0" smtClean="0">
                        <a:latin typeface="Cambria Math" panose="02040503050406030204"/>
                        <a:ea typeface="宋体" panose="02010600030101010101" pitchFamily="2" charset="-122"/>
                      </a:rPr>
                      <m:t>𝑊</m:t>
                    </m:r>
                    <m:r>
                      <a:rPr lang="en-US" altLang="zh-CN" sz="2800" i="1" dirty="0" smtClean="0">
                        <a:latin typeface="Cambria Math" panose="02040503050406030204"/>
                        <a:ea typeface="宋体" panose="02010600030101010101" pitchFamily="2" charset="-122"/>
                      </a:rPr>
                      <m:t>−(</m:t>
                    </m:r>
                    <m:r>
                      <a:rPr lang="en-US" altLang="zh-CN" sz="2800" i="1" dirty="0" smtClean="0">
                        <a:latin typeface="Cambria Math" panose="02040503050406030204"/>
                        <a:ea typeface="宋体" panose="02010600030101010101" pitchFamily="2" charset="-122"/>
                      </a:rPr>
                      <m:t>𝑊</m:t>
                    </m:r>
                    <m:r>
                      <a:rPr lang="en-US" altLang="zh-CN" sz="2800" i="1" dirty="0" smtClean="0">
                        <a:latin typeface="Cambria Math" panose="02040503050406030204"/>
                        <a:ea typeface="宋体" panose="02010600030101010101" pitchFamily="2" charset="-122"/>
                      </a:rPr>
                      <m:t>−</m:t>
                    </m:r>
                    <m:sSub>
                      <m:sSubPr>
                        <m:ctrlPr>
                          <a:rPr lang="en-US" altLang="zh-CN" sz="280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800" b="0" i="1" dirty="0" smtClean="0">
                            <a:latin typeface="Cambria Math" panose="02040503050406030204"/>
                            <a:ea typeface="宋体" panose="02010600030101010101" pitchFamily="2" charset="-122"/>
                          </a:rPr>
                          <m:t>𝑉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/>
                            <a:ea typeface="宋体" panose="02010600030101010101" pitchFamily="2" charset="-122"/>
                          </a:rPr>
                          <m:t>0</m:t>
                        </m:r>
                      </m:sub>
                    </m:sSub>
                    <m:r>
                      <a:rPr lang="en-US" altLang="zh-CN" sz="2800" i="1" dirty="0">
                        <a:latin typeface="Cambria Math" panose="02040503050406030204"/>
                        <a:ea typeface="宋体" panose="02010600030101010101" pitchFamily="2" charset="-122"/>
                      </a:rPr>
                      <m:t>)</m:t>
                    </m:r>
                    <m:r>
                      <m:rPr>
                        <m:sty m:val="p"/>
                      </m:rPr>
                      <a:rPr lang="en-US" altLang="zh-CN" sz="2800" i="1" dirty="0" err="1" smtClean="0">
                        <a:latin typeface="Cambria Math" panose="02040503050406030204"/>
                        <a:ea typeface="宋体" panose="02010600030101010101" pitchFamily="2" charset="-122"/>
                      </a:rPr>
                      <m:t>exp</m:t>
                    </m:r>
                    <m:r>
                      <a:rPr lang="zh-CN" altLang="en-US" sz="2800" i="1" dirty="0" smtClean="0">
                        <a:latin typeface="Cambria Math" panose="02040503050406030204"/>
                        <a:ea typeface="宋体" panose="02010600030101010101" pitchFamily="2" charset="-122"/>
                      </a:rPr>
                      <m:t>⁡</m:t>
                    </m:r>
                    <m:r>
                      <a:rPr lang="en-US" altLang="zh-CN" sz="2800" b="0" i="1" dirty="0" smtClean="0">
                        <a:latin typeface="Cambria Math" panose="02040503050406030204"/>
                        <a:ea typeface="宋体" panose="02010600030101010101" pitchFamily="2" charset="-122"/>
                      </a:rPr>
                      <m:t>(</m:t>
                    </m:r>
                    <m:r>
                      <a:rPr lang="en-US" altLang="zh-CN" sz="2800" i="1" dirty="0" smtClean="0">
                        <a:latin typeface="Cambria Math" panose="02040503050406030204"/>
                        <a:ea typeface="宋体" panose="02010600030101010101" pitchFamily="2" charset="-122"/>
                      </a:rPr>
                      <m:t>−</m:t>
                    </m:r>
                    <m:r>
                      <a:rPr lang="en-US" altLang="zh-CN" sz="2800" i="1" dirty="0" smtClean="0">
                        <a:latin typeface="Cambria Math" panose="02040503050406030204"/>
                        <a:ea typeface="宋体" panose="02010600030101010101" pitchFamily="2" charset="-122"/>
                      </a:rPr>
                      <m:t>𝑡</m:t>
                    </m:r>
                    <m:r>
                      <a:rPr lang="en-US" altLang="zh-CN" sz="2800" i="1" dirty="0" smtClean="0">
                        <a:latin typeface="Cambria Math" panose="02040503050406030204"/>
                        <a:ea typeface="宋体" panose="02010600030101010101" pitchFamily="2" charset="-122"/>
                      </a:rPr>
                      <m:t>/</m:t>
                    </m:r>
                    <m:r>
                      <a:rPr lang="zh-CN" altLang="en-US" sz="2800" i="1" dirty="0" smtClean="0">
                        <a:latin typeface="Cambria Math" panose="02040503050406030204"/>
                        <a:ea typeface="宋体" panose="02010600030101010101" pitchFamily="2" charset="-122"/>
                      </a:rPr>
                      <m:t>𝜏</m:t>
                    </m:r>
                    <m:r>
                      <a:rPr lang="en-US" altLang="zh-CN" sz="2800" i="1" dirty="0" smtClean="0">
                        <a:latin typeface="Cambria Math" panose="02040503050406030204"/>
                        <a:ea typeface="宋体" panose="02010600030101010101" pitchFamily="2" charset="-122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800" b="0" i="1" dirty="0" smtClean="0">
                            <a:latin typeface="Cambria Math" panose="02040503050406030204"/>
                            <a:ea typeface="宋体" panose="02010600030101010101" pitchFamily="2" charset="-122"/>
                          </a:rPr>
                          <m:t>𝑉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/>
                            <a:ea typeface="宋体" panose="02010600030101010101" pitchFamily="2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是电容器的初始电压，</a:t>
                </a:r>
                <a14:m>
                  <m:oMath xmlns:m="http://schemas.openxmlformats.org/officeDocument/2006/math">
                    <m:r>
                      <a:rPr lang="zh-CN" altLang="en-US" sz="2800" i="1" dirty="0" smtClean="0">
                        <a:latin typeface="Cambria Math" panose="02040503050406030204"/>
                        <a:ea typeface="宋体" panose="02010600030101010101" pitchFamily="2" charset="-122"/>
                      </a:rPr>
                      <m:t>𝜏</m:t>
                    </m:r>
                  </m:oMath>
                </a14:m>
                <a:r>
                  <a:rPr lang="zh-CN" altLang="en-US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是充电常数</a:t>
                </a:r>
                <a:r>
                  <a:rPr lang="en-US" altLang="zh-CN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.</a:t>
                </a:r>
                <a:r>
                  <a:rPr lang="zh-CN" altLang="en-US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试由下面一组</a:t>
                </a:r>
                <a:r>
                  <a:rPr lang="en-US" altLang="zh-CN" sz="2800" dirty="0" err="1">
                    <a:latin typeface="宋体" panose="02010600030101010101" pitchFamily="2" charset="-122"/>
                    <a:ea typeface="宋体" panose="02010600030101010101" pitchFamily="2" charset="-122"/>
                  </a:rPr>
                  <a:t>t,u</a:t>
                </a:r>
                <a:r>
                  <a:rPr lang="zh-CN" altLang="en-US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数据确定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800" b="0" i="1" dirty="0" smtClean="0">
                            <a:latin typeface="Cambria Math" panose="02040503050406030204"/>
                            <a:ea typeface="宋体" panose="02010600030101010101" pitchFamily="2" charset="-122"/>
                          </a:rPr>
                          <m:t>𝑉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/>
                            <a:ea typeface="宋体" panose="02010600030101010101" pitchFamily="2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zh-CN" altLang="en-US" sz="2800" i="1" dirty="0" smtClean="0">
                        <a:latin typeface="Cambria Math" panose="02040503050406030204"/>
                        <a:ea typeface="宋体" panose="02010600030101010101" pitchFamily="2" charset="-122"/>
                      </a:rPr>
                      <m:t>𝜏</m:t>
                    </m:r>
                  </m:oMath>
                </a14:m>
                <a:r>
                  <a:rPr lang="en-US" altLang="zh-CN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.</a:t>
                </a:r>
                <a:endParaRPr lang="zh-CN" altLang="en-US" sz="28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88640"/>
                <a:ext cx="8797893" cy="6237312"/>
              </a:xfrm>
              <a:blipFill>
                <a:blip r:embed="rId3"/>
                <a:stretch>
                  <a:fillRect l="-1385" t="-1271" r="-4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custDataLst>
                  <p:tags r:id="rId1"/>
                </p:custDataLst>
              </p:nvPr>
            </p:nvGraphicFramePr>
            <p:xfrm>
              <a:off x="395536" y="2204864"/>
              <a:ext cx="8352928" cy="1008112"/>
            </p:xfrm>
            <a:graphic>
              <a:graphicData uri="http://schemas.openxmlformats.org/drawingml/2006/table">
                <a:tbl>
                  <a:tblPr firstCol="1" bandRow="1">
                    <a:tableStyleId>{5C22544A-7EE6-4342-B048-85BDC9FD1C3A}</a:tableStyleId>
                  </a:tblPr>
                  <a:tblGrid>
                    <a:gridCol w="115212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200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0405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i="1" dirty="0" smtClean="0">
                                    <a:latin typeface="Cambria Math" panose="02040503050406030204"/>
                                    <a:ea typeface="宋体" panose="02010600030101010101" pitchFamily="2" charset="-122"/>
                                  </a:rPr>
                                  <m:t>𝑡</m:t>
                                </m:r>
                                <m:r>
                                  <a:rPr lang="en-US" altLang="zh-CN" sz="1800" i="1" dirty="0" smtClean="0">
                                    <a:latin typeface="Cambria Math" panose="02040503050406030204"/>
                                    <a:ea typeface="宋体" panose="02010600030101010101" pitchFamily="2" charset="-122"/>
                                  </a:rPr>
                                  <m:t>/</m:t>
                                </m:r>
                                <m:r>
                                  <a:rPr lang="en-US" altLang="zh-CN" sz="1800" b="1" i="1" dirty="0" smtClean="0">
                                    <a:latin typeface="Cambria Math" panose="02040503050406030204"/>
                                    <a:ea typeface="宋体" panose="02010600030101010101" pitchFamily="2" charset="-122"/>
                                  </a:rPr>
                                  <m:t>𝒔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dirty="0"/>
                            <a:t>0.5              1                2                3                4                5               7 </a:t>
                          </a:r>
                          <a:r>
                            <a:rPr lang="en-US" altLang="zh-CN" baseline="0" dirty="0"/>
                            <a:t>              9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i="1" dirty="0" smtClean="0">
                                    <a:latin typeface="Cambria Math" panose="02040503050406030204"/>
                                    <a:ea typeface="宋体" panose="02010600030101010101" pitchFamily="2" charset="-122"/>
                                  </a:rPr>
                                  <m:t>𝑢</m:t>
                                </m:r>
                                <m:r>
                                  <a:rPr lang="en-US" altLang="zh-CN" sz="1800" i="1" dirty="0" smtClean="0">
                                    <a:latin typeface="Cambria Math" panose="02040503050406030204"/>
                                    <a:ea typeface="宋体" panose="02010600030101010101" pitchFamily="2" charset="-122"/>
                                  </a:rPr>
                                  <m:t>/</m:t>
                                </m:r>
                                <m:r>
                                  <a:rPr lang="en-US" altLang="zh-CN" sz="1800" b="1" i="1" dirty="0" smtClean="0">
                                    <a:latin typeface="Cambria Math" panose="02040503050406030204"/>
                                    <a:ea typeface="宋体" panose="02010600030101010101" pitchFamily="2" charset="-122"/>
                                  </a:rPr>
                                  <m:t>𝑽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dirty="0"/>
                            <a:t>6.36          6.48          7.26           8.22          8.66           8.99         9.43         9.63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>
                <a:graphicFrameLocks noGrp="1"/>
              </p:cNvGraphicFramePr>
              <p:nvPr>
                <p:custDataLst>
                  <p:tags r:id="rId4"/>
                </p:custDataLst>
              </p:nvPr>
            </p:nvGraphicFramePr>
            <p:xfrm>
              <a:off x="395536" y="2204864"/>
              <a:ext cx="8352928" cy="1008112"/>
            </p:xfrm>
            <a:graphic>
              <a:graphicData uri="http://schemas.openxmlformats.org/drawingml/2006/table">
                <a:tbl>
                  <a:tblPr firstCol="1" bandRow="1">
                    <a:tableStyleId>{5C22544A-7EE6-4342-B048-85BDC9FD1C3A}</a:tableStyleId>
                  </a:tblPr>
                  <a:tblGrid>
                    <a:gridCol w="1152128"/>
                    <a:gridCol w="7200800"/>
                  </a:tblGrid>
                  <a:tr h="50419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dirty="0" smtClean="0"/>
                            <a:t>0.5              1                2                3                4                5               7 </a:t>
                          </a:r>
                          <a:r>
                            <a:rPr lang="en-US" altLang="zh-CN" baseline="0" dirty="0" smtClean="0"/>
                            <a:t>              9</a:t>
                          </a:r>
                          <a:endParaRPr lang="zh-CN" altLang="en-US" dirty="0"/>
                        </a:p>
                      </a:txBody>
                      <a:tcPr/>
                    </a:tc>
                  </a:tr>
                  <a:tr h="50419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dirty="0" smtClean="0"/>
                            <a:t>6.36          6.48          7.26           8.22          8.66           8.99         9.43         9.63</a:t>
                          </a:r>
                          <a:endParaRPr lang="zh-CN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16632"/>
                <a:ext cx="8797893" cy="62373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、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(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分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)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弹簧在力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F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的作用下伸长，一定范围内服从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Hooke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定律：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F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与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x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成正比，即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/>
                        <a:ea typeface="宋体" panose="02010600030101010101" pitchFamily="2" charset="-122"/>
                      </a:rPr>
                      <m:t>𝐹</m:t>
                    </m:r>
                    <m:r>
                      <a:rPr lang="en-US" altLang="zh-CN" sz="2400" i="1" dirty="0" smtClean="0">
                        <a:latin typeface="Cambria Math" panose="02040503050406030204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2400" i="1" dirty="0" err="1" smtClean="0">
                        <a:latin typeface="Cambria Math" panose="02040503050406030204"/>
                        <a:ea typeface="宋体" panose="02010600030101010101" pitchFamily="2" charset="-122"/>
                      </a:rPr>
                      <m:t>𝑘𝑥</m:t>
                    </m:r>
                  </m:oMath>
                </a14:m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，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k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为劲度系数现在得到下面一组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x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，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F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数据，并在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(</a:t>
                </a:r>
                <a:r>
                  <a:rPr lang="en-US" altLang="zh-CN" sz="2400" dirty="0" err="1">
                    <a:latin typeface="宋体" panose="02010600030101010101" pitchFamily="2" charset="-122"/>
                    <a:ea typeface="宋体" panose="02010600030101010101" pitchFamily="2" charset="-122"/>
                  </a:rPr>
                  <a:t>x,F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)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坐标下作图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(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如下图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).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可以看出，当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F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大到一定数值后，就不服从这个定律了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.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试由数据确定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k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，并给出不服从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Hooke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定律时的近似公式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.</a:t>
                </a:r>
                <a:endPara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16632"/>
                <a:ext cx="8797893" cy="6237312"/>
              </a:xfrm>
              <a:blipFill>
                <a:blip r:embed="rId2"/>
                <a:stretch>
                  <a:fillRect l="-1039" t="-782" r="-2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2060848"/>
            <a:ext cx="7992888" cy="32532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/>
              <p:cNvGraphicFramePr>
                <a:graphicFrameLocks noGrp="1"/>
              </p:cNvGraphicFramePr>
              <p:nvPr/>
            </p:nvGraphicFramePr>
            <p:xfrm>
              <a:off x="395536" y="5445224"/>
              <a:ext cx="8352928" cy="1008112"/>
            </p:xfrm>
            <a:graphic>
              <a:graphicData uri="http://schemas.openxmlformats.org/drawingml/2006/table">
                <a:tbl>
                  <a:tblPr firstCol="1" bandRow="1">
                    <a:tableStyleId>{5C22544A-7EE6-4342-B048-85BDC9FD1C3A}</a:tableStyleId>
                  </a:tblPr>
                  <a:tblGrid>
                    <a:gridCol w="115212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200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0405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1" i="1" smtClean="0">
                                    <a:latin typeface="Cambria Math" panose="02040503050406030204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dirty="0"/>
                            <a:t> 1           2            4            7     </a:t>
                          </a:r>
                          <a:r>
                            <a:rPr lang="en-US" altLang="zh-CN" baseline="0" dirty="0"/>
                            <a:t> </a:t>
                          </a:r>
                          <a:r>
                            <a:rPr lang="en-US" altLang="zh-CN" dirty="0"/>
                            <a:t>       9            12              13 </a:t>
                          </a:r>
                          <a:r>
                            <a:rPr lang="en-US" altLang="zh-CN" baseline="0" dirty="0"/>
                            <a:t>            15               17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1" i="1" smtClean="0">
                                    <a:latin typeface="Cambria Math" panose="02040503050406030204"/>
                                  </a:rPr>
                                  <m:t>𝑭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dirty="0"/>
                            <a:t>1.5</a:t>
                          </a:r>
                          <a:r>
                            <a:rPr lang="en-US" altLang="zh-CN" baseline="0" dirty="0"/>
                            <a:t>        3.9        6.6        11.7        15.6       18.8           19.6          20.6          21.1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/>
              <p:cNvGraphicFramePr>
                <a:graphicFrameLocks noGrp="1"/>
              </p:cNvGraphicFramePr>
              <p:nvPr/>
            </p:nvGraphicFramePr>
            <p:xfrm>
              <a:off x="395536" y="5445224"/>
              <a:ext cx="8352928" cy="1008112"/>
            </p:xfrm>
            <a:graphic>
              <a:graphicData uri="http://schemas.openxmlformats.org/drawingml/2006/table">
                <a:tbl>
                  <a:tblPr firstCol="1" bandRow="1">
                    <a:tableStyleId>{5C22544A-7EE6-4342-B048-85BDC9FD1C3A}</a:tableStyleId>
                  </a:tblPr>
                  <a:tblGrid>
                    <a:gridCol w="1152128"/>
                    <a:gridCol w="7200800"/>
                  </a:tblGrid>
                  <a:tr h="50419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dirty="0" smtClean="0"/>
                            <a:t> 1           2            4            7     </a:t>
                          </a:r>
                          <a:r>
                            <a:rPr lang="en-US" altLang="zh-CN" baseline="0" dirty="0" smtClean="0"/>
                            <a:t> </a:t>
                          </a:r>
                          <a:r>
                            <a:rPr lang="en-US" altLang="zh-CN" dirty="0" smtClean="0"/>
                            <a:t>       9            12              13 </a:t>
                          </a:r>
                          <a:r>
                            <a:rPr lang="en-US" altLang="zh-CN" baseline="0" dirty="0" smtClean="0"/>
                            <a:t>            15               17</a:t>
                          </a:r>
                          <a:endParaRPr lang="zh-CN" altLang="en-US" dirty="0"/>
                        </a:p>
                      </a:txBody>
                      <a:tcPr/>
                    </a:tc>
                  </a:tr>
                  <a:tr h="50419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dirty="0" smtClean="0"/>
                            <a:t>1.5</a:t>
                          </a:r>
                          <a:r>
                            <a:rPr lang="en-US" altLang="zh-CN" baseline="0" dirty="0" smtClean="0"/>
                            <a:t>        3.9        6.6        11.7        15.6       18.8           19.6          20.6          21.1</a:t>
                          </a:r>
                          <a:endParaRPr lang="zh-CN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88640"/>
            <a:ext cx="8797893" cy="62373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3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3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3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3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3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</a:t>
            </a:r>
            <a:r>
              <a:rPr lang="en-US" altLang="zh-CN" sz="23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300" dirty="0">
                <a:latin typeface="宋体" panose="02010600030101010101" pitchFamily="2" charset="-122"/>
                <a:ea typeface="宋体" panose="02010600030101010101" pitchFamily="2" charset="-122"/>
              </a:rPr>
              <a:t>下面是一山区海拔高度每</a:t>
            </a:r>
            <a:r>
              <a:rPr lang="en-US" altLang="zh-CN" sz="2300" dirty="0">
                <a:latin typeface="宋体" panose="02010600030101010101" pitchFamily="2" charset="-122"/>
                <a:ea typeface="宋体" panose="02010600030101010101" pitchFamily="2" charset="-122"/>
              </a:rPr>
              <a:t>400m</a:t>
            </a:r>
            <a:r>
              <a:rPr lang="zh-CN" altLang="en-US" sz="2300" dirty="0">
                <a:latin typeface="宋体" panose="02010600030101010101" pitchFamily="2" charset="-122"/>
                <a:ea typeface="宋体" panose="02010600030101010101" pitchFamily="2" charset="-122"/>
              </a:rPr>
              <a:t>的网格数据</a:t>
            </a:r>
            <a:r>
              <a:rPr lang="en-US" altLang="zh-CN" sz="23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300" dirty="0">
                <a:latin typeface="宋体" panose="02010600030101010101" pitchFamily="2" charset="-122"/>
                <a:ea typeface="宋体" panose="02010600030101010101" pitchFamily="2" charset="-122"/>
              </a:rPr>
              <a:t>单位：</a:t>
            </a:r>
            <a:r>
              <a:rPr lang="en-US" altLang="zh-CN" sz="2300" dirty="0">
                <a:latin typeface="宋体" panose="02010600030101010101" pitchFamily="2" charset="-122"/>
                <a:ea typeface="宋体" panose="02010600030101010101" pitchFamily="2" charset="-122"/>
              </a:rPr>
              <a:t>10m).</a:t>
            </a:r>
            <a:r>
              <a:rPr lang="zh-CN" altLang="en-US" sz="2300" dirty="0">
                <a:latin typeface="宋体" panose="02010600030101010101" pitchFamily="2" charset="-122"/>
                <a:ea typeface="宋体" panose="02010600030101010101" pitchFamily="2" charset="-122"/>
              </a:rPr>
              <a:t>为了作修建道路的成本预算，需要给出每</a:t>
            </a:r>
            <a:r>
              <a:rPr lang="en-US" altLang="zh-CN" sz="2300" dirty="0">
                <a:latin typeface="宋体" panose="02010600030101010101" pitchFamily="2" charset="-122"/>
                <a:ea typeface="宋体" panose="02010600030101010101" pitchFamily="2" charset="-122"/>
              </a:rPr>
              <a:t>100m</a:t>
            </a:r>
            <a:r>
              <a:rPr lang="zh-CN" altLang="en-US" sz="2300" dirty="0">
                <a:latin typeface="宋体" panose="02010600030101010101" pitchFamily="2" charset="-122"/>
                <a:ea typeface="宋体" panose="02010600030101010101" pitchFamily="2" charset="-122"/>
              </a:rPr>
              <a:t>的网格数据</a:t>
            </a:r>
            <a:r>
              <a:rPr lang="en-US" altLang="zh-CN" sz="23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en-US" sz="2300" dirty="0">
                <a:latin typeface="宋体" panose="02010600030101010101" pitchFamily="2" charset="-122"/>
                <a:ea typeface="宋体" panose="02010600030101010101" pitchFamily="2" charset="-122"/>
              </a:rPr>
              <a:t>已知山区有一个山峰、一条山谷和一条溪流</a:t>
            </a:r>
            <a:r>
              <a:rPr lang="en-US" altLang="zh-CN" sz="23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300" dirty="0">
                <a:latin typeface="宋体" panose="02010600030101010101" pitchFamily="2" charset="-122"/>
                <a:ea typeface="宋体" panose="02010600030101010101" pitchFamily="2" charset="-122"/>
              </a:rPr>
              <a:t>其源头约</a:t>
            </a:r>
            <a:r>
              <a:rPr lang="en-US" altLang="zh-CN" sz="2300" dirty="0">
                <a:latin typeface="宋体" panose="02010600030101010101" pitchFamily="2" charset="-122"/>
                <a:ea typeface="宋体" panose="02010600030101010101" pitchFamily="2" charset="-122"/>
              </a:rPr>
              <a:t>1350m)</a:t>
            </a:r>
            <a:r>
              <a:rPr lang="zh-CN" altLang="en-US" sz="2300" dirty="0">
                <a:latin typeface="宋体" panose="02010600030101010101" pitchFamily="2" charset="-122"/>
                <a:ea typeface="宋体" panose="02010600030101010101" pitchFamily="2" charset="-122"/>
              </a:rPr>
              <a:t>，画出它们的位置</a:t>
            </a:r>
            <a:r>
              <a:rPr lang="en-US" altLang="zh-CN" sz="23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en-US" sz="2300" dirty="0">
                <a:latin typeface="宋体" panose="02010600030101010101" pitchFamily="2" charset="-122"/>
                <a:ea typeface="宋体" panose="02010600030101010101" pitchFamily="2" charset="-122"/>
              </a:rPr>
              <a:t>（数据文件见附上的</a:t>
            </a:r>
            <a:r>
              <a:rPr lang="en-US" altLang="zh-CN" sz="2300" dirty="0">
                <a:latin typeface="宋体" panose="02010600030101010101" pitchFamily="2" charset="-122"/>
                <a:ea typeface="宋体" panose="02010600030101010101" pitchFamily="2" charset="-122"/>
              </a:rPr>
              <a:t>Excel</a:t>
            </a:r>
            <a:r>
              <a:rPr lang="zh-CN" altLang="en-US" sz="2300" dirty="0">
                <a:latin typeface="宋体" panose="02010600030101010101" pitchFamily="2" charset="-122"/>
                <a:ea typeface="宋体" panose="02010600030101010101" pitchFamily="2" charset="-122"/>
              </a:rPr>
              <a:t>表，请自行查找学习如何用</a:t>
            </a:r>
            <a:r>
              <a:rPr lang="en-US" altLang="zh-CN" sz="2300" dirty="0">
                <a:latin typeface="宋体" panose="02010600030101010101" pitchFamily="2" charset="-122"/>
                <a:ea typeface="宋体" panose="02010600030101010101" pitchFamily="2" charset="-122"/>
              </a:rPr>
              <a:t>MATLAB</a:t>
            </a:r>
            <a:r>
              <a:rPr lang="zh-CN" altLang="en-US" sz="2300" dirty="0">
                <a:latin typeface="宋体" panose="02010600030101010101" pitchFamily="2" charset="-122"/>
                <a:ea typeface="宋体" panose="02010600030101010101" pitchFamily="2" charset="-122"/>
              </a:rPr>
              <a:t>命令从</a:t>
            </a:r>
            <a:r>
              <a:rPr lang="en-US" altLang="zh-CN" sz="2300" dirty="0">
                <a:latin typeface="宋体" panose="02010600030101010101" pitchFamily="2" charset="-122"/>
                <a:ea typeface="宋体" panose="02010600030101010101" pitchFamily="2" charset="-122"/>
              </a:rPr>
              <a:t>Excel</a:t>
            </a:r>
            <a:r>
              <a:rPr lang="zh-CN" altLang="en-US" sz="2300" dirty="0">
                <a:latin typeface="宋体" panose="02010600030101010101" pitchFamily="2" charset="-122"/>
                <a:ea typeface="宋体" panose="02010600030101010101" pitchFamily="2" charset="-122"/>
              </a:rPr>
              <a:t>表读数据）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323528" y="2060844"/>
          <a:ext cx="8496944" cy="43204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1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1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1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1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10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10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10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10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10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10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310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10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310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3105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3105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3105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086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u="none" strike="noStrike" dirty="0">
                          <a:effectLst/>
                        </a:rPr>
                        <a:t>480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135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137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139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140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141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96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94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88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80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69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57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43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29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21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u="none" strike="noStrike" dirty="0">
                          <a:effectLst/>
                        </a:rPr>
                        <a:t>440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137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139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141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143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144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114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111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105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95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82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69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54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38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30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21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u="none" strike="noStrike" dirty="0">
                          <a:effectLst/>
                        </a:rPr>
                        <a:t>400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138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141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143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145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147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132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128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120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108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94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78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62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46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37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35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u="none" strike="noStrike" dirty="0">
                          <a:effectLst/>
                        </a:rPr>
                        <a:t>360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142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143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145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148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150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155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151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143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130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120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98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85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75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55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50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6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u="none" strike="noStrike" dirty="0">
                          <a:effectLst/>
                        </a:rPr>
                        <a:t>320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143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145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146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150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160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155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155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160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160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160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155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150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150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155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155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6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u="none" strike="noStrike" dirty="0">
                          <a:effectLst/>
                        </a:rPr>
                        <a:t>280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95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119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137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150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120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110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155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160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155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138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107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90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105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115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120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86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u="none" strike="noStrike" dirty="0">
                          <a:effectLst/>
                        </a:rPr>
                        <a:t>240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91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109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127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150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120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110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135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145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120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115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101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88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105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110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86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u="none" strike="noStrike" dirty="0">
                          <a:effectLst/>
                        </a:rPr>
                        <a:t>200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88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106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123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139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150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150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140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90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110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106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95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87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90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93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95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86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u="none" strike="noStrike" dirty="0">
                          <a:effectLst/>
                        </a:rPr>
                        <a:t>160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effectLst/>
                        </a:rPr>
                        <a:t>83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98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118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132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145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142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140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130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70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90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85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84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38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78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75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86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u="none" strike="noStrike">
                          <a:effectLst/>
                        </a:rPr>
                        <a:t>120</a:t>
                      </a:r>
                      <a:endParaRPr lang="en-US" altLang="zh-CN" sz="9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effectLst/>
                        </a:rPr>
                        <a:t>74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88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108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113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125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128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123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104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90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50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70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78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75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65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55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86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u="none" strike="noStrike">
                          <a:effectLst/>
                        </a:rPr>
                        <a:t>80</a:t>
                      </a:r>
                      <a:endParaRPr lang="en-US" altLang="zh-CN" sz="9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effectLst/>
                        </a:rPr>
                        <a:t>65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76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88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97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102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105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102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83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80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70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30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50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55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48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35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86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u="none" strike="noStrike">
                          <a:effectLst/>
                        </a:rPr>
                        <a:t>40</a:t>
                      </a:r>
                      <a:endParaRPr lang="en-US" altLang="zh-CN" sz="9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effectLst/>
                        </a:rPr>
                        <a:t>51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62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73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80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85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87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85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78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72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65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50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20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30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35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32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86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u="none" strike="noStrike" dirty="0">
                          <a:effectLst/>
                        </a:rPr>
                        <a:t>0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effectLst/>
                        </a:rPr>
                        <a:t>37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47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55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60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67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69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67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62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58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45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40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30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25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86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>
                          <a:effectLst/>
                        </a:rPr>
                        <a:t>Y/X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u="none" strike="noStrike" dirty="0">
                          <a:effectLst/>
                        </a:rPr>
                        <a:t>0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u="none" strike="noStrike" dirty="0">
                          <a:effectLst/>
                        </a:rPr>
                        <a:t>40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u="none" strike="noStrike" dirty="0">
                          <a:effectLst/>
                        </a:rPr>
                        <a:t>80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u="none" strike="noStrike" dirty="0">
                          <a:effectLst/>
                        </a:rPr>
                        <a:t>120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u="none" strike="noStrike" dirty="0">
                          <a:effectLst/>
                        </a:rPr>
                        <a:t>160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u="none" strike="noStrike" dirty="0">
                          <a:effectLst/>
                        </a:rPr>
                        <a:t>200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u="none" strike="noStrike" dirty="0">
                          <a:effectLst/>
                        </a:rPr>
                        <a:t>240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u="none" strike="noStrike" dirty="0">
                          <a:effectLst/>
                        </a:rPr>
                        <a:t>280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u="none" strike="noStrike" dirty="0">
                          <a:effectLst/>
                        </a:rPr>
                        <a:t>320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u="none" strike="noStrike" dirty="0">
                          <a:effectLst/>
                        </a:rPr>
                        <a:t>360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u="none" strike="noStrike" dirty="0">
                          <a:effectLst/>
                        </a:rPr>
                        <a:t>400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u="none" strike="noStrike" dirty="0">
                          <a:effectLst/>
                        </a:rPr>
                        <a:t>440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u="none" strike="noStrike" dirty="0">
                          <a:effectLst/>
                        </a:rPr>
                        <a:t>480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u="none" strike="noStrike" dirty="0">
                          <a:effectLst/>
                        </a:rPr>
                        <a:t>520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u="none" strike="noStrike" dirty="0">
                          <a:effectLst/>
                        </a:rPr>
                        <a:t>560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3782" marR="3782" marT="3782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69b8e400-048e-49f7-b35d-463fbfae5de1}"/>
</p:tagLst>
</file>

<file path=ppt/tags/tag2.xml><?xml version="1.0" encoding="utf-8"?>
<p:tagLst xmlns:p="http://schemas.openxmlformats.org/presentationml/2006/main">
  <p:tag name="KSO_WM_UNIT_TABLE_BEAUTIFY" val="smartTable{69b8e400-048e-49f7-b35d-463fbfae5de1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549</Words>
  <Application>Microsoft Office PowerPoint</Application>
  <PresentationFormat>全屏显示(4:3)</PresentationFormat>
  <Paragraphs>236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宋体</vt:lpstr>
      <vt:lpstr>微软雅黑</vt:lpstr>
      <vt:lpstr>Arial</vt:lpstr>
      <vt:lpstr>Calibri</vt:lpstr>
      <vt:lpstr>Cambria Math</vt:lpstr>
      <vt:lpstr>Office 主题​​</vt:lpstr>
      <vt:lpstr>11月27日实验课实验题   上交截止日期:2024年11月27日22:00  共4分 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</dc:creator>
  <cp:lastModifiedBy>hyids</cp:lastModifiedBy>
  <cp:revision>32</cp:revision>
  <dcterms:created xsi:type="dcterms:W3CDTF">2021-10-19T09:07:00Z</dcterms:created>
  <dcterms:modified xsi:type="dcterms:W3CDTF">2024-11-27T11:01:50Z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84D4B9D0C33D4869B82E7927B562C3D5</vt:lpwstr>
  </property>
  <property fmtid="{D5CDD505-2E9C-101B-9397-08002B2CF9AE}" pid="3" name="KSOProductBuildVer">
    <vt:lpwstr>2052-11.1.0.11045</vt:lpwstr>
  </property>
</Properties>
</file>